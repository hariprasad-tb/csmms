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1097280" y="4754880"/>
            <a:ext cx="4114800" cy="2194560"/>
          </a:xfrm>
          <a:prstGeom prst="rtTriangle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13248" y="731520"/>
            <a:ext cx="1371600" cy="1371600"/>
          </a:xfrm>
          <a:prstGeom prst="roundRect">
            <a:avLst>
              <a:gd name="adj" fmla="val 28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3000" b="1">
                <a:solidFill>
                  <a:srgbClr val="141414"/>
                </a:solidFill>
                <a:latin typeface="Segoe UI Semibold"/>
              </a:rPr>
              <a:t>MCA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087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ACC15"/>
                </a:solidFill>
                <a:latin typeface="Segoe UI Semibold"/>
              </a:rPr>
              <a:t>CONSTRUCTION SERVICE &amp; MATERIAL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ACC15"/>
                </a:solidFill>
                <a:latin typeface="Segoe UI Semibold"/>
              </a:rPr>
              <a:t>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A Unified Web Marketplace for Workers, Contractors &amp; Building Materials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7248" y="4434840"/>
            <a:ext cx="5943600" cy="17830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F5F5"/>
                </a:solidFill>
                <a:latin typeface="Segoe UI"/>
              </a:rPr>
              <a:t>HARIPRASAD T B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A1A1AA"/>
                </a:solidFill>
                <a:latin typeface="Segoe UI"/>
              </a:rPr>
              <a:t>Enrolment No.: 232MCAN0168   |   Reg. No.: 23MCA5168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5F5F5"/>
                </a:solidFill>
                <a:latin typeface="Segoe UI"/>
              </a:rPr>
              <a:t>Guide: Dr. S. Meera  —  Associate Professor &amp; Head (I/c)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Segoe UI"/>
              </a:rPr>
              <a:t>Department of Computer Science (AI)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ACC15"/>
                </a:solidFill>
                <a:latin typeface="Segoe UI"/>
              </a:rPr>
              <a:t>Centre for Distance and Online Education, Bharathiar University  |  2023–2025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46304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 Semibold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20" y="1463040"/>
            <a:ext cx="4160520" cy="7772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 tIns="25400" bIns="25400"/>
          <a:lstStyle/>
          <a:p>
            <a:pPr algn="l"/>
            <a:r>
              <a:rPr sz="1500" b="0">
                <a:solidFill>
                  <a:srgbClr val="F5F5F5"/>
                </a:solidFill>
                <a:latin typeface="Segoe UI"/>
              </a:rPr>
              <a:t>Introduction &amp; 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46304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 Semibold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63040"/>
            <a:ext cx="4160520" cy="7772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 tIns="25400" bIns="25400"/>
          <a:lstStyle/>
          <a:p>
            <a:pPr algn="l"/>
            <a:r>
              <a:rPr sz="1500" b="0">
                <a:solidFill>
                  <a:srgbClr val="F5F5F5"/>
                </a:solidFill>
                <a:latin typeface="Segoe UI"/>
              </a:rPr>
              <a:t>Objectives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441448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 Semibold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20" y="2441448"/>
            <a:ext cx="4160520" cy="7772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 tIns="25400" bIns="25400"/>
          <a:lstStyle/>
          <a:p>
            <a:pPr algn="l"/>
            <a:r>
              <a:rPr sz="1500" b="0">
                <a:solidFill>
                  <a:srgbClr val="F5F5F5"/>
                </a:solidFill>
                <a:latin typeface="Segoe UI"/>
              </a:rPr>
              <a:t>Existing vs Proposed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441448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 Semibold"/>
              </a:rPr>
              <a:t>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441448"/>
            <a:ext cx="4160520" cy="7772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 tIns="25400" bIns="25400"/>
          <a:lstStyle/>
          <a:p>
            <a:pPr algn="l"/>
            <a:r>
              <a:rPr sz="1500" b="0">
                <a:solidFill>
                  <a:srgbClr val="F5F5F5"/>
                </a:solidFill>
                <a:latin typeface="Segoe UI"/>
              </a:rPr>
              <a:t>System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419856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 Semibold"/>
              </a:rPr>
              <a:t>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20" y="3419856"/>
            <a:ext cx="4160520" cy="7772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 tIns="25400" bIns="25400"/>
          <a:lstStyle/>
          <a:p>
            <a:pPr algn="l"/>
            <a:r>
              <a:rPr sz="1500" b="0">
                <a:solidFill>
                  <a:srgbClr val="F5F5F5"/>
                </a:solidFill>
                <a:latin typeface="Segoe UI"/>
              </a:rPr>
              <a:t>User Roles &amp; Modules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419856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 Semibold"/>
              </a:rPr>
              <a:t>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419856"/>
            <a:ext cx="4160520" cy="7772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 tIns="25400" bIns="25400"/>
          <a:lstStyle/>
          <a:p>
            <a:pPr algn="l"/>
            <a:r>
              <a:rPr sz="1500" b="0">
                <a:solidFill>
                  <a:srgbClr val="F5F5F5"/>
                </a:solidFill>
                <a:latin typeface="Segoe UI"/>
              </a:rPr>
              <a:t>Database Design (ER)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398264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 Semibold"/>
              </a:rPr>
              <a:t>07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20" y="4398264"/>
            <a:ext cx="4160520" cy="7772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 tIns="25400" bIns="25400"/>
          <a:lstStyle/>
          <a:p>
            <a:pPr algn="l"/>
            <a:r>
              <a:rPr sz="1500" b="0">
                <a:solidFill>
                  <a:srgbClr val="F5F5F5"/>
                </a:solidFill>
                <a:latin typeface="Segoe UI"/>
              </a:rPr>
              <a:t>Technology 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398264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 Semibold"/>
              </a:rPr>
              <a:t>08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4398264"/>
            <a:ext cx="4160520" cy="7772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 tIns="25400" bIns="25400"/>
          <a:lstStyle/>
          <a:p>
            <a:pPr algn="l"/>
            <a:r>
              <a:rPr sz="1500" b="0">
                <a:solidFill>
                  <a:srgbClr val="F5F5F5"/>
                </a:solidFill>
                <a:latin typeface="Segoe UI"/>
              </a:rPr>
              <a:t>Application Walkthrough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5376672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 Semibold"/>
              </a:rPr>
              <a:t>09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20" y="5376672"/>
            <a:ext cx="4160520" cy="7772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 tIns="25400" bIns="25400"/>
          <a:lstStyle/>
          <a:p>
            <a:pPr algn="l"/>
            <a:r>
              <a:rPr sz="1500" b="0">
                <a:solidFill>
                  <a:srgbClr val="F5F5F5"/>
                </a:solidFill>
                <a:latin typeface="Segoe UI"/>
              </a:rPr>
              <a:t>Testing &amp; Results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5376672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 Semibold"/>
              </a:rPr>
              <a:t>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5376672"/>
            <a:ext cx="4160520" cy="7772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50800" tIns="25400" bIns="25400"/>
          <a:lstStyle/>
          <a:p>
            <a:pPr algn="l"/>
            <a:r>
              <a:rPr sz="1500" b="0">
                <a:solidFill>
                  <a:srgbClr val="F5F5F5"/>
                </a:solidFill>
                <a:latin typeface="Segoe UI"/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852160" cy="448056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ACC15"/>
                </a:solidFill>
                <a:latin typeface="Segoe UI Semibold"/>
              </a:rPr>
              <a:t>The Context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5F5F5"/>
                </a:solidFill>
                <a:latin typeface="Segoe UI"/>
              </a:rPr>
              <a:t>•  Construction is one of India's largest employment sectors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5F5F5"/>
                </a:solidFill>
                <a:latin typeface="Segoe UI"/>
              </a:rPr>
              <a:t>•  Hiring relies on word-of-mouth and local referrals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5F5F5"/>
                </a:solidFill>
                <a:latin typeface="Segoe UI"/>
              </a:rPr>
              <a:t>•  Material purchase needs visits to multiple suppliers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5F5F5"/>
                </a:solidFill>
                <a:latin typeface="Segoe UI"/>
              </a:rPr>
              <a:t>•  No unified digital platform for services + materials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5F5F5"/>
                </a:solidFill>
                <a:latin typeface="Segoe UI"/>
              </a:rPr>
              <a:t>•  Providers lack online presence and booking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371600"/>
            <a:ext cx="4754880" cy="448056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ACC15"/>
                </a:solidFill>
                <a:latin typeface="Segoe UI"/>
              </a:rPr>
              <a:t>Proposed System</a:t>
            </a:r>
          </a:p>
          <a:p>
            <a:pPr algn="ctr">
              <a:spcAft>
                <a:spcPts val="400"/>
              </a:spcAft>
            </a:pPr>
            <a:r>
              <a:rPr sz="800" b="0">
                <a:solidFill>
                  <a:srgbClr val="F5F5F5"/>
                </a:solidFill>
                <a:latin typeface="Segoe UI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F5F5F5"/>
                </a:solidFill>
                <a:latin typeface="Segoe UI"/>
              </a:rPr>
              <a:t>A full-stack web marketplace that unifies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ACC15"/>
                </a:solidFill>
                <a:latin typeface="Segoe UI"/>
              </a:rPr>
              <a:t>worker hiring  •  contractor booking  •  material purchase</a:t>
            </a:r>
          </a:p>
          <a:p>
            <a:pPr algn="ctr">
              <a:spcAft>
                <a:spcPts val="400"/>
              </a:spcAft>
            </a:pPr>
            <a:r>
              <a:rPr sz="800" b="0">
                <a:solidFill>
                  <a:srgbClr val="F5F5F5"/>
                </a:solidFill>
                <a:latin typeface="Segoe UI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A1A1AA"/>
                </a:solidFill>
                <a:latin typeface="Segoe UI"/>
              </a:rPr>
              <a:t>Built with Next.js 16, React 19, MongoDB,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A1A1AA"/>
                </a:solidFill>
                <a:latin typeface="Segoe UI"/>
              </a:rPr>
              <a:t>and JWT-secured role-based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1435608" y="1828800"/>
            <a:ext cx="548640" cy="54864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2139696" cy="27432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27000" rIns="127000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472B6"/>
                </a:solidFill>
                <a:latin typeface="Segoe UI Semibold"/>
              </a:rPr>
              <a:t>No Verification</a:t>
            </a:r>
          </a:p>
          <a:p>
            <a:pPr algn="ctr"/>
            <a:r>
              <a:rPr sz="1300">
                <a:solidFill>
                  <a:srgbClr val="F5F5F5"/>
                </a:solidFill>
                <a:latin typeface="Segoe UI"/>
              </a:rPr>
              <a:t>Hard to find verified, rated workers and contractors</a:t>
            </a:r>
          </a:p>
        </p:txBody>
      </p:sp>
      <p:sp>
        <p:nvSpPr>
          <p:cNvPr id="8" name="Oval 7"/>
          <p:cNvSpPr/>
          <p:nvPr/>
        </p:nvSpPr>
        <p:spPr>
          <a:xfrm>
            <a:off x="3685032" y="1828800"/>
            <a:ext cx="548640" cy="54864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9504" y="2606040"/>
            <a:ext cx="2139696" cy="27432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27000" rIns="127000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B923C"/>
                </a:solidFill>
                <a:latin typeface="Segoe UI Semibold"/>
              </a:rPr>
              <a:t>Opaque Pricing</a:t>
            </a:r>
          </a:p>
          <a:p>
            <a:pPr algn="ctr"/>
            <a:r>
              <a:rPr sz="1300">
                <a:solidFill>
                  <a:srgbClr val="F5F5F5"/>
                </a:solidFill>
                <a:latin typeface="Segoe UI"/>
              </a:rPr>
              <a:t>Labour and material rates unclear until work begins</a:t>
            </a:r>
          </a:p>
        </p:txBody>
      </p:sp>
      <p:sp>
        <p:nvSpPr>
          <p:cNvPr id="10" name="Oval 9"/>
          <p:cNvSpPr/>
          <p:nvPr/>
        </p:nvSpPr>
        <p:spPr>
          <a:xfrm>
            <a:off x="5934456" y="1828800"/>
            <a:ext cx="548640" cy="5486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8" y="2606040"/>
            <a:ext cx="2139696" cy="27432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27000" rIns="127000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60A5FA"/>
                </a:solidFill>
                <a:latin typeface="Segoe UI Semibold"/>
              </a:rPr>
              <a:t>No Records</a:t>
            </a:r>
          </a:p>
          <a:p>
            <a:pPr algn="ctr"/>
            <a:r>
              <a:rPr sz="1300">
                <a:solidFill>
                  <a:srgbClr val="F5F5F5"/>
                </a:solidFill>
                <a:latin typeface="Segoe UI"/>
              </a:rPr>
              <a:t>Bookings, orders and payments are untracked</a:t>
            </a:r>
          </a:p>
        </p:txBody>
      </p:sp>
      <p:sp>
        <p:nvSpPr>
          <p:cNvPr id="12" name="Oval 11"/>
          <p:cNvSpPr/>
          <p:nvPr/>
        </p:nvSpPr>
        <p:spPr>
          <a:xfrm>
            <a:off x="8183880" y="1828800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2606040"/>
            <a:ext cx="2139696" cy="27432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27000" rIns="127000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4ADE80"/>
                </a:solidFill>
                <a:latin typeface="Segoe UI Semibold"/>
              </a:rPr>
              <a:t>No Digital Tools</a:t>
            </a:r>
          </a:p>
          <a:p>
            <a:pPr algn="ctr"/>
            <a:r>
              <a:rPr sz="1300">
                <a:solidFill>
                  <a:srgbClr val="F5F5F5"/>
                </a:solidFill>
                <a:latin typeface="Segoe UI"/>
              </a:rPr>
              <a:t>Providers cannot manage requests or earnings online</a:t>
            </a:r>
          </a:p>
        </p:txBody>
      </p:sp>
      <p:sp>
        <p:nvSpPr>
          <p:cNvPr id="14" name="Oval 13"/>
          <p:cNvSpPr/>
          <p:nvPr/>
        </p:nvSpPr>
        <p:spPr>
          <a:xfrm>
            <a:off x="10433304" y="1828800"/>
            <a:ext cx="548640" cy="548640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>
                <a:solidFill>
                  <a:srgbClr val="141414"/>
                </a:solidFill>
                <a:latin typeface="Segoe UI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37776" y="2606040"/>
            <a:ext cx="2139696" cy="27432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27000" rIns="127000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ACC15"/>
                </a:solidFill>
                <a:latin typeface="Segoe UI Semibold"/>
              </a:rPr>
              <a:t>No Oversight</a:t>
            </a:r>
          </a:p>
          <a:p>
            <a:pPr algn="ctr"/>
            <a:r>
              <a:rPr sz="1300">
                <a:solidFill>
                  <a:srgbClr val="F5F5F5"/>
                </a:solidFill>
                <a:latin typeface="Segoe UI"/>
              </a:rPr>
              <a:t>No central admin control over users and listings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685800" cy="685800"/>
          </a:xfrm>
          <a:prstGeom prst="roundRect">
            <a:avLst>
              <a:gd name="adj" fmla="val 3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141414"/>
                </a:solidFill>
                <a:latin typeface="Segoe UI Semibold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1417320"/>
            <a:ext cx="9509760" cy="6858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50800" tIns="25400" bIns="25400"/>
          <a:lstStyle/>
          <a:p>
            <a:pPr algn="l"/>
            <a:r>
              <a:rPr sz="1600" b="0">
                <a:solidFill>
                  <a:srgbClr val="F5F5F5"/>
                </a:solidFill>
                <a:latin typeface="Segoe UI"/>
              </a:rPr>
              <a:t>Develop a unified construction marketplace web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58568"/>
            <a:ext cx="685800" cy="685800"/>
          </a:xfrm>
          <a:prstGeom prst="roundRect">
            <a:avLst>
              <a:gd name="adj" fmla="val 3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141414"/>
                </a:solidFill>
                <a:latin typeface="Segoe UI Semibold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2258568"/>
            <a:ext cx="9509760" cy="6858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50800" tIns="25400" bIns="25400"/>
          <a:lstStyle/>
          <a:p>
            <a:pPr algn="l"/>
            <a:r>
              <a:rPr sz="1600" b="0">
                <a:solidFill>
                  <a:srgbClr val="F5F5F5"/>
                </a:solidFill>
                <a:latin typeface="Segoe UI"/>
              </a:rPr>
              <a:t>Implement secure JWT authentication &amp; role-based access (5 roles)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99816"/>
            <a:ext cx="685800" cy="685800"/>
          </a:xfrm>
          <a:prstGeom prst="roundRect">
            <a:avLst>
              <a:gd name="adj" fmla="val 3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141414"/>
                </a:solidFill>
                <a:latin typeface="Segoe UI Semibold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3099816"/>
            <a:ext cx="9509760" cy="6858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50800" tIns="25400" bIns="25400"/>
          <a:lstStyle/>
          <a:p>
            <a:pPr algn="l"/>
            <a:r>
              <a:rPr sz="1600" b="0">
                <a:solidFill>
                  <a:srgbClr val="F5F5F5"/>
                </a:solidFill>
                <a:latin typeface="Segoe UI"/>
              </a:rPr>
              <a:t>Enable worker hiring and contractor booking with filters &amp; ratings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41064"/>
            <a:ext cx="685800" cy="685800"/>
          </a:xfrm>
          <a:prstGeom prst="roundRect">
            <a:avLst>
              <a:gd name="adj" fmla="val 3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141414"/>
                </a:solidFill>
                <a:latin typeface="Segoe UI Semibold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3080" y="3941064"/>
            <a:ext cx="9509760" cy="6858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50800" tIns="25400" bIns="25400"/>
          <a:lstStyle/>
          <a:p>
            <a:pPr algn="l"/>
            <a:r>
              <a:rPr sz="1600" b="0">
                <a:solidFill>
                  <a:srgbClr val="F5F5F5"/>
                </a:solidFill>
                <a:latin typeface="Segoe UI"/>
              </a:rPr>
              <a:t>Provide material e-commerce with cart and checkout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82312"/>
            <a:ext cx="685800" cy="685800"/>
          </a:xfrm>
          <a:prstGeom prst="roundRect">
            <a:avLst>
              <a:gd name="adj" fmla="val 3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141414"/>
                </a:solidFill>
                <a:latin typeface="Segoe UI Semibold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4782312"/>
            <a:ext cx="9509760" cy="6858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50800" tIns="25400" bIns="25400"/>
          <a:lstStyle/>
          <a:p>
            <a:pPr algn="l"/>
            <a:r>
              <a:rPr sz="1600" b="0">
                <a:solidFill>
                  <a:srgbClr val="F5F5F5"/>
                </a:solidFill>
                <a:latin typeface="Segoe UI"/>
              </a:rPr>
              <a:t>Support bookings, orders, reviews and unified activity 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623560"/>
            <a:ext cx="685800" cy="685800"/>
          </a:xfrm>
          <a:prstGeom prst="roundRect">
            <a:avLst>
              <a:gd name="adj" fmla="val 3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141414"/>
                </a:solidFill>
                <a:latin typeface="Segoe UI Semibold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83080" y="5623560"/>
            <a:ext cx="9509760" cy="6858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50800" tIns="25400" bIns="25400"/>
          <a:lstStyle/>
          <a:p>
            <a:pPr algn="l"/>
            <a:r>
              <a:rPr sz="1600" b="0">
                <a:solidFill>
                  <a:srgbClr val="F5F5F5"/>
                </a:solidFill>
                <a:latin typeface="Segoe UI"/>
              </a:rPr>
              <a:t>Deliver Admin, Provider and Vendor management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Existing System vs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48056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472B6"/>
                </a:solidFill>
                <a:latin typeface="Segoe UI Semibold"/>
              </a:rPr>
              <a:t>EXISTING — Manual &amp; Fragmented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Word-of-mouth referrals, phone negotiations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Visits to multiple shops for material prices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No ratings, verification or comparison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Paper-based or zero record keeping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Partial apps: services OR materials, never both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394960" cy="448056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4ADE80"/>
                </a:solidFill>
                <a:latin typeface="Segoe UI Semibold"/>
              </a:rPr>
              <a:t>PROPOSED — Unified Web System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Single platform: workers + contractors + materials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Transparent pricing, photos, ratings &amp; reviews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Cart, checkout, bookings and order tracking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Role-based dashboards for every participant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Secure JWT sessions, MongoDB persistence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50992" y="3291840"/>
            <a:ext cx="914400" cy="548640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9611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1A1AA"/>
                </a:solidFill>
                <a:latin typeface="Segoe UI"/>
              </a:rPr>
              <a:t>Three-tier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554480"/>
            <a:ext cx="8138160" cy="105156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60A5FA"/>
                </a:solidFill>
                <a:latin typeface="Segoe UI Semibold"/>
              </a:rPr>
              <a:t>PRESENTATION LAYER</a:t>
            </a:r>
          </a:p>
          <a:p>
            <a:pPr algn="ctr"/>
            <a:r>
              <a:rPr sz="1300">
                <a:solidFill>
                  <a:srgbClr val="F5F5F5"/>
                </a:solidFill>
                <a:latin typeface="Segoe UI"/>
              </a:rPr>
              <a:t>Next.js Pages  •  React 19 Components  •  Tailwind CSS  •  Zustand Cart</a:t>
            </a:r>
          </a:p>
        </p:txBody>
      </p:sp>
      <p:sp>
        <p:nvSpPr>
          <p:cNvPr id="8" name="Up-Down Arrow 7"/>
          <p:cNvSpPr/>
          <p:nvPr/>
        </p:nvSpPr>
        <p:spPr>
          <a:xfrm>
            <a:off x="5879592" y="2624328"/>
            <a:ext cx="402336" cy="420624"/>
          </a:xfrm>
          <a:prstGeom prst="upDown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6700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A1A1AA"/>
                </a:solidFill>
                <a:latin typeface="Segoe UI"/>
              </a:rPr>
              <a:t>HTTP / REST  +  JWT Cookie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063240"/>
            <a:ext cx="8138160" cy="105156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254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ACC15"/>
                </a:solidFill>
                <a:latin typeface="Segoe UI Semibold"/>
              </a:rPr>
              <a:t>APPLICATION LAYER</a:t>
            </a:r>
          </a:p>
          <a:p>
            <a:pPr algn="ctr"/>
            <a:r>
              <a:rPr sz="1300">
                <a:solidFill>
                  <a:srgbClr val="F5F5F5"/>
                </a:solidFill>
                <a:latin typeface="Segoe UI"/>
              </a:rPr>
              <a:t>Next.js API Routes (REST)  •  Middleware  •  JWT Auth  •  Role Permissions</a:t>
            </a:r>
          </a:p>
        </p:txBody>
      </p:sp>
      <p:sp>
        <p:nvSpPr>
          <p:cNvPr id="11" name="Up-Down Arrow 10"/>
          <p:cNvSpPr/>
          <p:nvPr/>
        </p:nvSpPr>
        <p:spPr>
          <a:xfrm>
            <a:off x="5879592" y="4133088"/>
            <a:ext cx="402336" cy="420624"/>
          </a:xfrm>
          <a:prstGeom prst="upDown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788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A1A1AA"/>
                </a:solidFill>
                <a:latin typeface="Segoe UI"/>
              </a:rPr>
              <a:t>Mongoose Queries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4572000"/>
            <a:ext cx="8138160" cy="105156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4ADE80"/>
                </a:solidFill>
                <a:latin typeface="Segoe UI Semibold"/>
              </a:rPr>
              <a:t>DATA LAYER</a:t>
            </a:r>
          </a:p>
          <a:p>
            <a:pPr algn="ctr"/>
            <a:r>
              <a:rPr sz="1300">
                <a:solidFill>
                  <a:srgbClr val="F5F5F5"/>
                </a:solidFill>
                <a:latin typeface="Segoe UI"/>
              </a:rPr>
              <a:t>MongoDB  •  Mongoose ODM  •  users · providers · products · bookings · orders · reviews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91640"/>
            <a:ext cx="1234440" cy="777240"/>
          </a:xfrm>
          <a:prstGeom prst="roundRect">
            <a:avLst>
              <a:gd name="adj" fmla="val 12000"/>
            </a:avLst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A1A1AA"/>
                </a:solidFill>
                <a:latin typeface="Segoe UI"/>
              </a:rPr>
              <a:t>Browser</a:t>
            </a:r>
          </a:p>
          <a:p>
            <a:pPr algn="ctr"/>
            <a:r>
              <a:rPr sz="1100" b="0">
                <a:solidFill>
                  <a:srgbClr val="A1A1AA"/>
                </a:solidFill>
                <a:latin typeface="Segoe UI"/>
              </a:rPr>
              <a:t>(All Roles)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755648" y="1938528"/>
            <a:ext cx="237744" cy="274320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9611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1A1AA"/>
                </a:solidFill>
                <a:latin typeface="Segoe UI"/>
              </a:rPr>
              <a:t>Five roles with dedicated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2880360"/>
            <a:ext cx="2286000" cy="1188720"/>
          </a:xfrm>
          <a:prstGeom prst="roundRect">
            <a:avLst>
              <a:gd name="adj" fmla="val 2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700" b="1">
                <a:solidFill>
                  <a:srgbClr val="141414"/>
                </a:solidFill>
                <a:latin typeface="Segoe UI Semibold"/>
              </a:rPr>
              <a:t>Unified</a:t>
            </a:r>
          </a:p>
          <a:p>
            <a:pPr algn="ctr"/>
            <a:r>
              <a:rPr sz="1700" b="1">
                <a:solidFill>
                  <a:srgbClr val="141414"/>
                </a:solidFill>
                <a:latin typeface="Segoe UI Semibold"/>
              </a:rPr>
              <a:t>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60A5FA"/>
                </a:solidFill>
                <a:latin typeface="Segoe UI Semibold"/>
              </a:rPr>
              <a:t>CUSTOMER</a:t>
            </a:r>
          </a:p>
          <a:p>
            <a:pPr algn="ctr"/>
            <a:r>
              <a:rPr sz="1150">
                <a:solidFill>
                  <a:srgbClr val="F5F5F5"/>
                </a:solidFill>
                <a:latin typeface="Segoe UI"/>
              </a:rPr>
              <a:t>Browse • Book • Order
Review • Track activity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41732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4ADE80"/>
                </a:solidFill>
                <a:latin typeface="Segoe UI Semibold"/>
              </a:rPr>
              <a:t>WORKER</a:t>
            </a:r>
          </a:p>
          <a:p>
            <a:pPr algn="ctr"/>
            <a:r>
              <a:rPr sz="1150">
                <a:solidFill>
                  <a:srgbClr val="F5F5F5"/>
                </a:solidFill>
                <a:latin typeface="Segoe UI"/>
              </a:rPr>
              <a:t>Listing • Bookings
Earnings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29768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B923C"/>
                </a:solidFill>
                <a:latin typeface="Segoe UI Semibold"/>
              </a:rPr>
              <a:t>CONTRACTOR</a:t>
            </a:r>
          </a:p>
          <a:p>
            <a:pPr algn="ctr"/>
            <a:r>
              <a:rPr sz="1150">
                <a:solidFill>
                  <a:srgbClr val="F5F5F5"/>
                </a:solidFill>
                <a:latin typeface="Segoe UI"/>
              </a:rPr>
              <a:t>Projects • Bookings
Earnings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4297680"/>
            <a:ext cx="2651760" cy="13258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254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472B6"/>
                </a:solidFill>
                <a:latin typeface="Segoe UI Semibold"/>
              </a:rPr>
              <a:t>VENDOR</a:t>
            </a:r>
          </a:p>
          <a:p>
            <a:pPr algn="ctr"/>
            <a:r>
              <a:rPr sz="1150">
                <a:solidFill>
                  <a:srgbClr val="F5F5F5"/>
                </a:solidFill>
                <a:latin typeface="Segoe UI"/>
              </a:rPr>
              <a:t>Products • Orders
Sales statistics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5074920"/>
            <a:ext cx="4023360" cy="10058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254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ACC15"/>
                </a:solidFill>
                <a:latin typeface="Segoe UI Semibold"/>
              </a:rPr>
              <a:t>ADMIN</a:t>
            </a:r>
          </a:p>
          <a:p>
            <a:pPr algn="ctr"/>
            <a:r>
              <a:rPr sz="1150">
                <a:solidFill>
                  <a:srgbClr val="F5F5F5"/>
                </a:solidFill>
                <a:latin typeface="Segoe UI"/>
              </a:rPr>
              <a:t>Users • Listings • Bookings • Orders — full control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2011680.0" y="2080260.0"/>
            <a:ext cx="4087368.0" cy="1394460.0"/>
          </a:xfrm>
          <a:prstGeom prst="line">
            <a:avLst/>
          </a:prstGeom>
          <a:ln w="15875">
            <a:solidFill>
              <a:srgbClr val="52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099048" y="2080260.0"/>
            <a:ext cx="4142232.0" cy="1394460.0"/>
          </a:xfrm>
          <a:prstGeom prst="line">
            <a:avLst/>
          </a:prstGeom>
          <a:ln w="15875">
            <a:solidFill>
              <a:srgbClr val="52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011680.0" y="3474720"/>
            <a:ext cx="4087368.0" cy="1485900.0"/>
          </a:xfrm>
          <a:prstGeom prst="line">
            <a:avLst/>
          </a:prstGeom>
          <a:ln w="15875">
            <a:solidFill>
              <a:srgbClr val="52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9048" y="3474720"/>
            <a:ext cx="4142232.0" cy="1485900.0"/>
          </a:xfrm>
          <a:prstGeom prst="line">
            <a:avLst/>
          </a:prstGeom>
          <a:ln w="15875">
            <a:solidFill>
              <a:srgbClr val="52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9048" y="3474720"/>
            <a:ext cx="0.0" cy="2103120.0"/>
          </a:xfrm>
          <a:prstGeom prst="line">
            <a:avLst/>
          </a:prstGeom>
          <a:ln w="15875">
            <a:solidFill>
              <a:srgbClr val="525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956048" y="2880360"/>
            <a:ext cx="2286000" cy="1188720"/>
          </a:xfrm>
          <a:prstGeom prst="roundRect">
            <a:avLst>
              <a:gd name="adj" fmla="val 2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700" b="1">
                <a:solidFill>
                  <a:srgbClr val="141414"/>
                </a:solidFill>
                <a:latin typeface="Segoe UI Semibold"/>
              </a:rPr>
              <a:t>Unified</a:t>
            </a:r>
          </a:p>
          <a:p>
            <a:pPr algn="ctr"/>
            <a:r>
              <a:rPr sz="1700" b="1">
                <a:solidFill>
                  <a:srgbClr val="141414"/>
                </a:solidFill>
                <a:latin typeface="Segoe UI Semibold"/>
              </a:rPr>
              <a:t>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Application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657600" cy="141732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70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0A5FA"/>
                </a:solidFill>
                <a:latin typeface="Segoe UI Semibold"/>
              </a:rPr>
              <a:t>Authentication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Register, login, JWT cookie sessions, middleware protection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91440" cy="1417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44568" y="1417320"/>
            <a:ext cx="3657600" cy="141732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70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4ADE80"/>
                </a:solidFill>
                <a:latin typeface="Segoe UI Semibold"/>
              </a:rPr>
              <a:t>Services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Workers &amp; contractors with filters, detail pages, booking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44568" y="1417320"/>
            <a:ext cx="91440" cy="14173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49056" y="1417320"/>
            <a:ext cx="3657600" cy="141732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70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B923C"/>
                </a:solidFill>
                <a:latin typeface="Segoe UI Semibold"/>
              </a:rPr>
              <a:t>Materials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Product catalog, categories, sorting, image sliders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49056" y="1417320"/>
            <a:ext cx="91440" cy="141732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035808"/>
            <a:ext cx="3657600" cy="141732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70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472B6"/>
                </a:solidFill>
                <a:latin typeface="Segoe UI Semibold"/>
              </a:rPr>
              <a:t>Cart &amp; Checkout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Per-user cart for products + services, order creation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35808"/>
            <a:ext cx="91440" cy="14173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44568" y="3035808"/>
            <a:ext cx="3657600" cy="141732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70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ACC15"/>
                </a:solidFill>
                <a:latin typeface="Segoe UI Semibold"/>
              </a:rPr>
              <a:t>My Activity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Unified history of orders and bookings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8" y="3035808"/>
            <a:ext cx="91440" cy="141732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49056" y="3035808"/>
            <a:ext cx="3657600" cy="141732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70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0A5FA"/>
                </a:solidFill>
                <a:latin typeface="Segoe UI Semibold"/>
              </a:rPr>
              <a:t>Reviews &amp; Ratings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Star ratings and comments for providers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056" y="3035808"/>
            <a:ext cx="91440" cy="1417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654296"/>
            <a:ext cx="3657600" cy="141732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70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4ADE80"/>
                </a:solidFill>
                <a:latin typeface="Segoe UI Semibold"/>
              </a:rPr>
              <a:t>Admin Panel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Users, providers, vendors, materials, bookings, orders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54296"/>
            <a:ext cx="91440" cy="14173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44568" y="4654296"/>
            <a:ext cx="3657600" cy="141732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70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B923C"/>
                </a:solidFill>
                <a:latin typeface="Segoe UI Semibold"/>
              </a:rPr>
              <a:t>Provider Panel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Booking management and earnings analytics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44568" y="4654296"/>
            <a:ext cx="91440" cy="141732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49056" y="4654296"/>
            <a:ext cx="3657600" cy="141732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270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472B6"/>
                </a:solidFill>
                <a:latin typeface="Segoe UI Semibold"/>
              </a:rPr>
              <a:t>Vendor Dashboard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Product listings and sales overview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49056" y="4654296"/>
            <a:ext cx="91440" cy="14173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Database Design —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9611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1A1AA"/>
                </a:solidFill>
                <a:latin typeface="Segoe UI"/>
              </a:rPr>
              <a:t>MongoDB `buildconnect` — six collections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2468880" cy="15544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254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ACC15"/>
                </a:solidFill>
                <a:latin typeface="Segoe UI Semibold"/>
              </a:rPr>
              <a:t>USER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name, email, mobile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password (bcrypt)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role, isBlocked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325880"/>
            <a:ext cx="2468880" cy="15544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4ADE80"/>
                </a:solidFill>
                <a:latin typeface="Segoe UI Semibold"/>
              </a:rPr>
              <a:t>PROVIDER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type: worker/contractor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pricing, portfolio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rating, isApproved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325880"/>
            <a:ext cx="2468880" cy="15544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254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472B6"/>
                </a:solidFill>
                <a:latin typeface="Segoe UI Semibold"/>
              </a:rPr>
              <a:t>REVIEW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rating (1–5)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comment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userId, providerId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931920"/>
            <a:ext cx="2468880" cy="15544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0A5FA"/>
                </a:solidFill>
                <a:latin typeface="Segoe UI Semibold"/>
              </a:rPr>
              <a:t>BOOKING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serviceType, startDate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totalAmount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status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3931920"/>
            <a:ext cx="2468880" cy="15544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254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B923C"/>
                </a:solidFill>
                <a:latin typeface="Segoe UI Semibold"/>
              </a:rPr>
              <a:t>ORDER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items[], total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deliveryAddress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status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2606040"/>
            <a:ext cx="2468880" cy="15544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254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F5F5"/>
                </a:solidFill>
                <a:latin typeface="Segoe UI Semibold"/>
              </a:rPr>
              <a:t>PRODUCT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name, category, price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unit, stock, image</a:t>
            </a:r>
          </a:p>
          <a:p>
            <a:pPr algn="ctr"/>
            <a:r>
              <a:rPr sz="1050">
                <a:solidFill>
                  <a:srgbClr val="A1A1AA"/>
                </a:solidFill>
                <a:latin typeface="Segoe UI"/>
              </a:rPr>
              <a:t>vendorId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057400" y="2103120"/>
            <a:ext cx="4023360" cy="114300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37560" y="23820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FACC15"/>
                </a:solidFill>
                <a:latin typeface="Segoe UI"/>
              </a:rPr>
              <a:t>1 : N  owns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103120"/>
            <a:ext cx="402336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60920" y="18105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FACC15"/>
                </a:solidFill>
                <a:latin typeface="Segoe UI"/>
              </a:rPr>
              <a:t>1 : N  has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57400" y="3246120"/>
            <a:ext cx="4023360" cy="146304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37560" y="3685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FACC15"/>
                </a:solidFill>
                <a:latin typeface="Segoe UI"/>
              </a:rPr>
              <a:t>1 : N  places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57400" y="3246120"/>
            <a:ext cx="8046720" cy="146304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2103120"/>
            <a:ext cx="0" cy="260604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104120" y="3383280"/>
            <a:ext cx="0" cy="132588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372600" y="37536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FACC15"/>
                </a:solidFill>
                <a:latin typeface="Segoe UI"/>
              </a:rPr>
              <a:t>in items[]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Database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7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805"/>
                <a:gridCol w="3566160"/>
                <a:gridCol w="5094514"/>
              </a:tblGrid>
              <a:tr h="62701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414"/>
                          </a:solidFill>
                          <a:latin typeface="Segoe UI Semibold"/>
                        </a:rPr>
                        <a:t>Collection</a:t>
                      </a:r>
                    </a:p>
                  </a:txBody>
                  <a:tcPr anchor="ctr"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414"/>
                          </a:solidFill>
                          <a:latin typeface="Segoe UI Semibold"/>
                        </a:rPr>
                        <a:t>Purpose</a:t>
                      </a:r>
                    </a:p>
                  </a:txBody>
                  <a:tcPr anchor="ctr"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1414"/>
                          </a:solidFill>
                          <a:latin typeface="Segoe UI Semibold"/>
                        </a:rPr>
                        <a:t>Key Fields</a:t>
                      </a:r>
                    </a:p>
                  </a:txBody>
                  <a:tcPr anchor="ctr">
                    <a:solidFill>
                      <a:srgbClr val="FACC1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users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Accounts &amp; credentials (5 roles)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name, email, password, role, isBlocked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providers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Worker / contractor listings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type, title, location, pricing, rating, portfolio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products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Material catalog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name, category, price, unit, stock, vendorId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bookings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Service bookings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userId, providerId, startDate, totalAmount, status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orders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Material purchases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userId, items[], total, deliveryAddress, status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reviews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Provider feedback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5F5F5"/>
                          </a:solidFill>
                          <a:latin typeface="Segoe UI"/>
                        </a:rPr>
                        <a:t>userId, providerId, rating (1–5), comment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166360" cy="10058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60A5FA"/>
                </a:solidFill>
                <a:latin typeface="Segoe UI Semibold"/>
              </a:rPr>
              <a:t>Next.js 16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Full-stack framework — pages + REST API routes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91440" cy="10058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166360" cy="10058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60A5FA"/>
                </a:solidFill>
                <a:latin typeface="Segoe UI Semibold"/>
              </a:rPr>
              <a:t>React 19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Component-based responsive user interface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91440" cy="10058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633472"/>
            <a:ext cx="5166360" cy="10058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4ADE80"/>
                </a:solidFill>
                <a:latin typeface="Segoe UI Semibold"/>
              </a:rPr>
              <a:t>Tailwind CSS 4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Utility-first styling, dark construction theme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33472"/>
            <a:ext cx="91440" cy="10058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633472"/>
            <a:ext cx="5166360" cy="10058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4ADE80"/>
                </a:solidFill>
                <a:latin typeface="Segoe UI Semibold"/>
              </a:rPr>
              <a:t>MongoDB + Mongoose 8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Document database with schema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633472"/>
            <a:ext cx="91440" cy="10058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803904"/>
            <a:ext cx="5166360" cy="10058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B923C"/>
                </a:solidFill>
                <a:latin typeface="Segoe UI Semibold"/>
              </a:rPr>
              <a:t>JWT + bcrypt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HTTP-only cookie sessions, hashed passwords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03904"/>
            <a:ext cx="91440" cy="100584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803904"/>
            <a:ext cx="5166360" cy="10058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472B6"/>
                </a:solidFill>
                <a:latin typeface="Segoe UI Semibold"/>
              </a:rPr>
              <a:t>Zustand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Per-user shopping cart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803904"/>
            <a:ext cx="91440" cy="10058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974336"/>
            <a:ext cx="5166360" cy="10058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ACC15"/>
                </a:solidFill>
                <a:latin typeface="Segoe UI Semibold"/>
              </a:rPr>
              <a:t>Recharts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Earnings &amp; dashboard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974336"/>
            <a:ext cx="91440" cy="100584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4974336"/>
            <a:ext cx="5166360" cy="100584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60A5FA"/>
                </a:solidFill>
                <a:latin typeface="Segoe UI Semibold"/>
              </a:rPr>
              <a:t>TypeScript 5</a:t>
            </a:r>
          </a:p>
          <a:p>
            <a:r>
              <a:rPr sz="1150">
                <a:solidFill>
                  <a:srgbClr val="A1A1AA"/>
                </a:solidFill>
                <a:latin typeface="Segoe UI"/>
              </a:rPr>
              <a:t>Static typing across the entire codebase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974336"/>
            <a:ext cx="91440" cy="10058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Key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B923C"/>
                </a:solidFill>
                <a:latin typeface="Segoe UI Semibold"/>
              </a:rPr>
              <a:t>Material Order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Browse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Materials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73808" y="21305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6416" y="18745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Add to Cart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(Zustand)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08704" y="21305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1312" y="18745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Checkout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600" y="21305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8745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POST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/api/orders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78496" y="21305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71104" y="18745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MongoDB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orders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13392" y="21305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06000" y="18745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My Activity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46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ADE80"/>
                </a:solidFill>
                <a:latin typeface="Segoe UI Semibold"/>
              </a:rPr>
              <a:t>Service Booking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Browse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Workers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273808" y="39593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6416" y="37033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View Details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&amp; Pricing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08704" y="39593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01312" y="37033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Book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Service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43600" y="39593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6208" y="37033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POST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/api/bookings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778496" y="39593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71104" y="37033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Provider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Confirms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613392" y="39593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06000" y="37033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Earnings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60A5FA"/>
                </a:solidFill>
                <a:latin typeface="Segoe UI Semibold"/>
              </a:rPr>
              <a:t>Authentication 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5321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Register /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Login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273808" y="57881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566416" y="55321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bcrypt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Verify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108704" y="57881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01312" y="55321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JWT Signed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(7 days)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943600" y="57881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6208" y="55321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HTTP-only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Cookie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778496" y="57881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71104" y="55321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Middleware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Guard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613392" y="5788152"/>
            <a:ext cx="256032" cy="329184"/>
          </a:xfrm>
          <a:prstGeom prst="rightArrow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06000" y="5532120"/>
            <a:ext cx="1524000" cy="8686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Role-based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Walkthrough — Home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9611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1A1AA"/>
                </a:solidFill>
                <a:latin typeface="Segoe UI"/>
              </a:rPr>
              <a:t>Landing page with search and service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53031" y="1380744"/>
            <a:ext cx="8485632" cy="4863592"/>
          </a:xfrm>
          <a:prstGeom prst="roundRect">
            <a:avLst>
              <a:gd name="adj" fmla="val 3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417320"/>
            <a:ext cx="8412480" cy="4790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Walkthrough —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9611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1A1AA"/>
                </a:solidFill>
                <a:latin typeface="Segoe UI"/>
              </a:rPr>
              <a:t>Skilled workers with filters, ratings and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53031" y="1380744"/>
            <a:ext cx="8485632" cy="4863592"/>
          </a:xfrm>
          <a:prstGeom prst="roundRect">
            <a:avLst>
              <a:gd name="adj" fmla="val 3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or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417320"/>
            <a:ext cx="8412480" cy="4790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Walkthrough — Contractors &amp;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" y="1517904"/>
            <a:ext cx="5468112" cy="3145282"/>
          </a:xfrm>
          <a:prstGeom prst="roundRect">
            <a:avLst>
              <a:gd name="adj" fmla="val 3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tr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5394960" cy="30721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69976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A1A1AA"/>
                </a:solidFill>
                <a:latin typeface="Segoe UI"/>
              </a:rPr>
              <a:t>Contractor listings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517904"/>
            <a:ext cx="5468112" cy="3145282"/>
          </a:xfrm>
          <a:prstGeom prst="roundRect">
            <a:avLst>
              <a:gd name="adj" fmla="val 3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394960" cy="30721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469976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A1A1AA"/>
                </a:solidFill>
                <a:latin typeface="Segoe UI"/>
              </a:rPr>
              <a:t>Login / Registration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Walkthrough — Materials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9611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A1A1AA"/>
                </a:solidFill>
                <a:latin typeface="Segoe UI"/>
              </a:rPr>
              <a:t>Product catalog with categories, pricing and cart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53031" y="1380744"/>
            <a:ext cx="8485632" cy="4863592"/>
          </a:xfrm>
          <a:prstGeom prst="roundRect">
            <a:avLst>
              <a:gd name="adj" fmla="val 3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ter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7" y="1417320"/>
            <a:ext cx="8412480" cy="4790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Testing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7498077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550"/>
                <a:gridCol w="5190977"/>
                <a:gridCol w="1153550"/>
              </a:tblGrid>
              <a:tr h="4978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414"/>
                          </a:solidFill>
                          <a:latin typeface="Segoe UI Semibold"/>
                        </a:rPr>
                        <a:t>Test Case</a:t>
                      </a:r>
                    </a:p>
                  </a:txBody>
                  <a:tcPr anchor="ctr"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414"/>
                          </a:solidFill>
                          <a:latin typeface="Segoe UI Semibold"/>
                        </a:rPr>
                        <a:t>Scenario</a:t>
                      </a:r>
                    </a:p>
                  </a:txBody>
                  <a:tcPr anchor="ctr"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414"/>
                          </a:solidFill>
                          <a:latin typeface="Segoe UI Semibold"/>
                        </a:rPr>
                        <a:t>Result</a:t>
                      </a:r>
                    </a:p>
                  </a:txBody>
                  <a:tcPr anchor="ctr">
                    <a:solidFill>
                      <a:srgbClr val="FACC1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TC01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Login with valid / invalid credentials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TC04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Add to cart — logged-in user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TC05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Cart access as guest → redirect login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TC06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Worker booking creation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TC07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Material order checkout &amp; total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TC09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Provider booking status &amp; earnings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TC10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Admin blocks user → login denied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>
                    <a:solidFill>
                      <a:srgbClr val="232323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TC12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Production build (npm run build)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anchor="ctr">
                    <a:solidFill>
                      <a:srgbClr val="2E2E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417320"/>
            <a:ext cx="3017520" cy="448056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ACC15"/>
                </a:solidFill>
                <a:latin typeface="Segoe UI Semibold"/>
              </a:rPr>
              <a:t>Levels Covered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5F5F5"/>
                </a:solidFill>
                <a:latin typeface="Segoe UI"/>
              </a:rPr>
              <a:t>•  Unit testing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5F5F5"/>
                </a:solidFill>
                <a:latin typeface="Segoe UI"/>
              </a:rPr>
              <a:t>•  Integration testing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5F5F5"/>
                </a:solidFill>
                <a:latin typeface="Segoe UI"/>
              </a:rPr>
              <a:t>•  User acceptance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5F5F5"/>
                </a:solidFill>
                <a:latin typeface="Segoe UI"/>
              </a:rPr>
              <a:t>•  Output testing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5F5F5"/>
                </a:solidFill>
                <a:latin typeface="Segoe UI"/>
              </a:rPr>
              <a:t>•  Validation testing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F5F5F5"/>
                </a:solidFill>
                <a:latin typeface="Segoe UI"/>
              </a:rPr>
              <a:t>•  Security checks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A1A1AA"/>
                </a:solidFill>
                <a:latin typeface="Segoe UI"/>
              </a:rPr>
              <a:t>Construction Service &amp; Material Management System  |  MCA 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1A1AA"/>
                </a:solidFill>
                <a:latin typeface="Segoe U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852160" cy="448056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4ADE80"/>
                </a:solidFill>
                <a:latin typeface="Segoe UI Semibold"/>
              </a:rPr>
              <a:t>Achievements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Unified marketplace: services + materials, one platform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Five-role system with secure JWT access control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Cart, bookings, orders, reviews fully working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Admin / Provider / Vendor dashboards delivered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All 12 test cases passed; clean production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17320"/>
            <a:ext cx="4754880" cy="448056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FACC15"/>
                </a:solidFill>
                <a:latin typeface="Segoe UI Semibold"/>
              </a:rPr>
              <a:t>Future Enhancements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Razorpay / UPI payment gateway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Email &amp; SMS notifications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Mobile app (React Native)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GPS worker tracking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AI-based recommendations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5F5F5"/>
                </a:solidFill>
                <a:latin typeface="Segoe UI"/>
              </a:rPr>
              <a:t>•  Cloud deployment with CI/CD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4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6000" b="1">
                <a:solidFill>
                  <a:srgbClr val="FACC15"/>
                </a:solidFill>
                <a:latin typeface="Segoe UI Semibol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F5F5F5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4448" y="4023360"/>
            <a:ext cx="5029200" cy="155448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5F5F5"/>
                </a:solidFill>
                <a:latin typeface="Segoe UI"/>
              </a:rPr>
              <a:t>HARIPRASAD T B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A1A1AA"/>
                </a:solidFill>
                <a:latin typeface="Segoe UI"/>
              </a:rPr>
              <a:t>232MCAN0168  |  23MCA5168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5F5F5"/>
                </a:solidFill>
                <a:latin typeface="Segoe UI"/>
              </a:rPr>
              <a:t>Guide: Dr. S. Meera — Dept. of Computer Science (AI)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ACC15"/>
                </a:solidFill>
                <a:latin typeface="Segoe UI"/>
              </a:rPr>
              <a:t>Bharathiar University CDOE  |  2023–2025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